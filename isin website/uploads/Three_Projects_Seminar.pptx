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28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7295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EC6E2"/>
                </a:solidFill>
                <a:latin typeface="Calibri"/>
              </a:rPr>
              <a:t>PROJECT 1   ·   DIGITAL TAXATION  / 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Who Bears the Burden of Digital Service Taxes?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194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CFDCEC"/>
                </a:solidFill>
                <a:latin typeface="Calibri"/>
              </a:rPr>
              <a:t>Acun (WU Vienna), Kasinger (TiSEM), Abou Nabout (WU Vienna)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277295" cy="566928"/>
          </a:xfrm>
          <a:prstGeom prst="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82296" cy="56692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1021263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1">
                <a:solidFill>
                  <a:srgbClr val="1C355E"/>
                </a:solidFill>
                <a:latin typeface="Calibri"/>
              </a:rPr>
              <a:t>DSTs meant to tax Big Tech are passed through near-completely to local advertisers: +3.4% ≈ the 3.2% statutory rate.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93392"/>
            <a:ext cx="54864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E6DA4"/>
                </a:solidFill>
                <a:latin typeface="Calibri"/>
              </a:rPr>
              <a:t>RESEARCH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40280"/>
            <a:ext cx="5486400" cy="1828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E6DA4"/>
                </a:solidFill>
                <a:latin typeface="Calibri"/>
              </a:rPr>
              <a:t>•  </a:t>
            </a:r>
            <a:r>
              <a:rPr sz="1100" b="0">
                <a:solidFill>
                  <a:srgbClr val="22262B"/>
                </a:solidFill>
                <a:latin typeface="Calibri"/>
              </a:rPr>
              <a:t>DSTs target large platforms (Google, Meta, Amazon). Does the </a:t>
            </a:r>
            <a:r>
              <a:rPr sz="1100" b="1">
                <a:solidFill>
                  <a:srgbClr val="22262B"/>
                </a:solidFill>
                <a:latin typeface="Calibri"/>
              </a:rPr>
              <a:t>platform absorb</a:t>
            </a:r>
            <a:r>
              <a:rPr sz="1100" b="0">
                <a:solidFill>
                  <a:srgbClr val="22262B"/>
                </a:solidFill>
                <a:latin typeface="Calibri"/>
              </a:rPr>
              <a:t> the tax, or </a:t>
            </a:r>
            <a:r>
              <a:rPr sz="1100" b="1">
                <a:solidFill>
                  <a:srgbClr val="22262B"/>
                </a:solidFill>
                <a:latin typeface="Calibri"/>
              </a:rPr>
              <a:t>pass it to domestic advertisers</a:t>
            </a:r>
            <a:r>
              <a:rPr sz="1100" b="0">
                <a:solidFill>
                  <a:srgbClr val="22262B"/>
                </a:solidFill>
                <a:latin typeface="Calibri"/>
              </a:rPr>
              <a:t> via higher ad prices?  (statutory ≠ economic incidence)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54864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E6DA4"/>
                </a:solidFill>
                <a:latin typeface="Calibri"/>
              </a:rPr>
              <a:t>SETTING &amp;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49361"/>
            <a:ext cx="5486400" cy="1828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E6DA4"/>
                </a:solidFill>
                <a:latin typeface="Calibri"/>
              </a:rPr>
              <a:t>•  </a:t>
            </a:r>
            <a:r>
              <a:rPr sz="1100" b="0">
                <a:solidFill>
                  <a:srgbClr val="22262B"/>
                </a:solidFill>
                <a:latin typeface="Calibri"/>
              </a:rPr>
              <a:t>Advertiser-level </a:t>
            </a:r>
            <a:r>
              <a:rPr sz="1100" b="1">
                <a:solidFill>
                  <a:srgbClr val="22262B"/>
                </a:solidFill>
                <a:latin typeface="Calibri"/>
              </a:rPr>
              <a:t>Google Ads panel</a:t>
            </a:r>
            <a:r>
              <a:rPr sz="1100" b="0">
                <a:solidFill>
                  <a:srgbClr val="22262B"/>
                </a:solidFill>
                <a:latin typeface="Calibri"/>
              </a:rPr>
              <a:t> (Grips Intelligence), Jan 2018 – Feb 2022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E6DA4"/>
                </a:solidFill>
                <a:latin typeface="Calibri"/>
              </a:rPr>
              <a:t>•  </a:t>
            </a:r>
            <a:r>
              <a:rPr sz="1100" b="1">
                <a:solidFill>
                  <a:srgbClr val="22262B"/>
                </a:solidFill>
                <a:latin typeface="Calibri"/>
              </a:rPr>
              <a:t>16,532 advertisers</a:t>
            </a:r>
            <a:r>
              <a:rPr sz="1100" b="0">
                <a:solidFill>
                  <a:srgbClr val="22262B"/>
                </a:solidFill>
                <a:latin typeface="Calibri"/>
              </a:rPr>
              <a:t> (3,645 treated / 12,887 control) · </a:t>
            </a:r>
            <a:r>
              <a:rPr sz="1100" b="1">
                <a:solidFill>
                  <a:srgbClr val="22262B"/>
                </a:solidFill>
                <a:latin typeface="Calibri"/>
              </a:rPr>
              <a:t>29 European countries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E6DA4"/>
                </a:solidFill>
                <a:latin typeface="Calibri"/>
              </a:rPr>
              <a:t>•  </a:t>
            </a:r>
            <a:r>
              <a:rPr sz="1100" b="0">
                <a:solidFill>
                  <a:srgbClr val="22262B"/>
                </a:solidFill>
                <a:latin typeface="Calibri"/>
              </a:rPr>
              <a:t>Outcome: </a:t>
            </a:r>
            <a:r>
              <a:rPr sz="1100" b="1">
                <a:solidFill>
                  <a:srgbClr val="22262B"/>
                </a:solidFill>
                <a:latin typeface="Calibri"/>
              </a:rPr>
              <a:t>tax-inclusive CPC</a:t>
            </a:r>
            <a:r>
              <a:rPr sz="1100" b="0">
                <a:solidFill>
                  <a:srgbClr val="22262B"/>
                </a:solidFill>
                <a:latin typeface="Calibri"/>
              </a:rPr>
              <a:t> = (spend + invoice surcharge) / clicks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2784" y="1993392"/>
            <a:ext cx="54864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E6DA4"/>
                </a:solidFill>
                <a:latin typeface="Calibri"/>
              </a:rPr>
              <a:t>IDENTIFICATION &amp; 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4" y="2240280"/>
            <a:ext cx="5486400" cy="1828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E6DA4"/>
                </a:solidFill>
                <a:latin typeface="Calibri"/>
              </a:rPr>
              <a:t>•  </a:t>
            </a:r>
            <a:r>
              <a:rPr sz="1100" b="0">
                <a:solidFill>
                  <a:srgbClr val="22262B"/>
                </a:solidFill>
                <a:latin typeface="Calibri"/>
              </a:rPr>
              <a:t>Google’s </a:t>
            </a:r>
            <a:r>
              <a:rPr sz="1100" b="1">
                <a:solidFill>
                  <a:srgbClr val="22262B"/>
                </a:solidFill>
                <a:latin typeface="Calibri"/>
              </a:rPr>
              <a:t>staggered DST invoice rollout</a:t>
            </a:r>
            <a:r>
              <a:rPr sz="1100" b="0">
                <a:solidFill>
                  <a:srgbClr val="22262B"/>
                </a:solidFill>
                <a:latin typeface="Calibri"/>
              </a:rPr>
              <a:t>: AT &amp; UK (Nov 2020), FR &amp; ES (May 2021), IT (Oct 2021)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E6DA4"/>
                </a:solidFill>
                <a:latin typeface="Calibri"/>
              </a:rPr>
              <a:t>•  </a:t>
            </a:r>
            <a:r>
              <a:rPr sz="1100" b="1">
                <a:solidFill>
                  <a:srgbClr val="22262B"/>
                </a:solidFill>
                <a:latin typeface="Calibri"/>
              </a:rPr>
              <a:t>Staggered event-study DiD</a:t>
            </a:r>
            <a:r>
              <a:rPr sz="1100" b="0">
                <a:solidFill>
                  <a:srgbClr val="22262B"/>
                </a:solidFill>
                <a:latin typeface="Calibri"/>
              </a:rPr>
              <a:t>; advertiser &amp; month FE; SE clustered by country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E6DA4"/>
                </a:solidFill>
                <a:latin typeface="Calibri"/>
              </a:rPr>
              <a:t>•  </a:t>
            </a:r>
            <a:r>
              <a:rPr sz="1100" b="0">
                <a:solidFill>
                  <a:srgbClr val="22262B"/>
                </a:solidFill>
                <a:latin typeface="Calibri"/>
              </a:rPr>
              <a:t>Robust to </a:t>
            </a:r>
            <a:r>
              <a:rPr sz="1100" b="1">
                <a:solidFill>
                  <a:srgbClr val="22262B"/>
                </a:solidFill>
                <a:latin typeface="Calibri"/>
              </a:rPr>
              <a:t>CS / SA / BJS / SynthDiD</a:t>
            </a:r>
            <a:r>
              <a:rPr sz="1100" b="0">
                <a:solidFill>
                  <a:srgbClr val="22262B"/>
                </a:solidFill>
                <a:latin typeface="Calibri"/>
              </a:rPr>
              <a:t>, COVID controls, placebo, leave-one-out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3749039"/>
            <a:ext cx="54864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E6DA4"/>
                </a:solidFill>
                <a:latin typeface="Calibri"/>
              </a:rPr>
              <a:t>KEY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3995927"/>
            <a:ext cx="5486400" cy="1828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E6DA4"/>
                </a:solidFill>
                <a:latin typeface="Calibri"/>
              </a:rPr>
              <a:t>•  </a:t>
            </a:r>
            <a:r>
              <a:rPr sz="1100" b="0">
                <a:solidFill>
                  <a:srgbClr val="22262B"/>
                </a:solidFill>
                <a:latin typeface="Calibri"/>
              </a:rPr>
              <a:t>Near-complete pass-through: </a:t>
            </a:r>
            <a:r>
              <a:rPr sz="1100" b="1">
                <a:solidFill>
                  <a:srgbClr val="22262B"/>
                </a:solidFill>
                <a:latin typeface="Calibri"/>
              </a:rPr>
              <a:t>ATT +3.4% (SE 0.7, p&lt;0.001)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E6DA4"/>
                </a:solidFill>
                <a:latin typeface="Calibri"/>
              </a:rPr>
              <a:t>•  </a:t>
            </a:r>
            <a:r>
              <a:rPr sz="1100" b="0">
                <a:solidFill>
                  <a:srgbClr val="22262B"/>
                </a:solidFill>
                <a:latin typeface="Calibri"/>
              </a:rPr>
              <a:t>Quantities </a:t>
            </a:r>
            <a:r>
              <a:rPr sz="1100" b="1">
                <a:solidFill>
                  <a:srgbClr val="22262B"/>
                </a:solidFill>
                <a:latin typeface="Calibri"/>
              </a:rPr>
              <a:t>flat</a:t>
            </a:r>
            <a:r>
              <a:rPr sz="1100" b="0">
                <a:solidFill>
                  <a:srgbClr val="22262B"/>
                </a:solidFill>
                <a:latin typeface="Calibri"/>
              </a:rPr>
              <a:t> (clicks −1.6% n.s., budgets −0.4% n.s.) → under-reaction, salience θ≈0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E6DA4"/>
                </a:solidFill>
                <a:latin typeface="Calibri"/>
              </a:rPr>
              <a:t>•  </a:t>
            </a:r>
            <a:r>
              <a:rPr sz="1100" b="0">
                <a:solidFill>
                  <a:srgbClr val="22262B"/>
                </a:solidFill>
                <a:latin typeface="Calibri"/>
              </a:rPr>
              <a:t>Survey (N=15): </a:t>
            </a:r>
            <a:r>
              <a:rPr sz="1100" b="1">
                <a:solidFill>
                  <a:srgbClr val="22262B"/>
                </a:solidFill>
                <a:latin typeface="Calibri"/>
              </a:rPr>
              <a:t>93% aware, 86% say advertisers bear it</a:t>
            </a:r>
            <a:r>
              <a:rPr sz="1100" b="0">
                <a:solidFill>
                  <a:srgbClr val="22262B"/>
                </a:solidFill>
                <a:latin typeface="Calibri"/>
              </a:rPr>
              <a:t> → not ignorance. Small advertisers bear it too (+3.0%)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449824"/>
            <a:ext cx="11277295" cy="1170432"/>
          </a:xfrm>
          <a:prstGeom prst="rect">
            <a:avLst/>
          </a:prstGeom>
          <a:solidFill>
            <a:srgbClr val="33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5449824"/>
            <a:ext cx="82296" cy="1170432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" y="5541264"/>
            <a:ext cx="11002975" cy="4181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dirty="0">
                <a:solidFill>
                  <a:srgbClr val="BFD2E8"/>
                </a:solidFill>
                <a:latin typeface="Calibri"/>
              </a:rPr>
              <a:t>STAGE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dirty="0">
                <a:solidFill>
                  <a:srgbClr val="FFFFFF"/>
                </a:solidFill>
                <a:latin typeface="Calibri"/>
              </a:rPr>
              <a:t>Stage:</a:t>
            </a:r>
            <a:r>
              <a:rPr sz="1100" b="0" dirty="0">
                <a:solidFill>
                  <a:srgbClr val="FFFFFF"/>
                </a:solidFill>
                <a:latin typeface="Calibri"/>
              </a:rPr>
              <a:t>  </a:t>
            </a:r>
            <a:r>
              <a:rPr sz="1100" b="1" dirty="0">
                <a:solidFill>
                  <a:srgbClr val="FFFFFF"/>
                </a:solidFill>
                <a:latin typeface="Calibri"/>
              </a:rPr>
              <a:t>Under review at Marketing Science.</a:t>
            </a:r>
            <a:r>
              <a:rPr sz="1100" b="0" dirty="0">
                <a:solidFill>
                  <a:srgbClr val="FFFFFF"/>
                </a:solidFill>
                <a:latin typeface="Calibri"/>
              </a:rPr>
              <a:t>  Results, robustness, and mechanism (behavioral + survey) complete — first causal estimate of DST incidence in digital advertising.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7295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EC6E2"/>
                </a:solidFill>
                <a:latin typeface="Calibri"/>
              </a:rPr>
              <a:t>PROJECT 2   ·   TRADE  /  ONLINE MARKETPLACES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Not so De Minimis: Tariffs &amp; Cross-Border Trade on Online Marketplaces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194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CFDCEC"/>
                </a:solidFill>
                <a:latin typeface="Calibri"/>
              </a:rPr>
              <a:t>Acun (WU Vienna), Abou Nabout (WU Vienna), Kaiser (U. Hamburg), Liaukonytė (Cornell)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277295" cy="566928"/>
          </a:xfrm>
          <a:prstGeom prst="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82296" cy="56692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1021263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1">
                <a:solidFill>
                  <a:srgbClr val="1C355E"/>
                </a:solidFill>
                <a:latin typeface="Calibri"/>
              </a:rPr>
              <a:t>Ending the $800 duty-free rule shrinks the market ≈ 6% — mostly lost cross-border sales, not redistribution to domestic sellers.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93392"/>
            <a:ext cx="54864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E6DA4"/>
                </a:solidFill>
                <a:latin typeface="Calibri"/>
              </a:rPr>
              <a:t>RESEARCH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40280"/>
            <a:ext cx="5486400" cy="1828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E6DA4"/>
                </a:solidFill>
                <a:latin typeface="Calibri"/>
              </a:rPr>
              <a:t>•  </a:t>
            </a:r>
            <a:r>
              <a:rPr sz="1100" b="0">
                <a:solidFill>
                  <a:srgbClr val="22262B"/>
                </a:solidFill>
                <a:latin typeface="Calibri"/>
              </a:rPr>
              <a:t>When a border suddenly </a:t>
            </a:r>
            <a:r>
              <a:rPr sz="1100" b="1">
                <a:solidFill>
                  <a:srgbClr val="22262B"/>
                </a:solidFill>
                <a:latin typeface="Calibri"/>
              </a:rPr>
              <a:t>reappears inside a marketplace</a:t>
            </a:r>
            <a:r>
              <a:rPr sz="1100" b="0">
                <a:solidFill>
                  <a:srgbClr val="22262B"/>
                </a:solidFill>
                <a:latin typeface="Calibri"/>
              </a:rPr>
              <a:t> (U.S. suspends de minimis, </a:t>
            </a:r>
            <a:r>
              <a:rPr sz="1100" b="1">
                <a:solidFill>
                  <a:srgbClr val="22262B"/>
                </a:solidFill>
                <a:latin typeface="Calibri"/>
              </a:rPr>
              <a:t>EO 14324, Aug 2025</a:t>
            </a:r>
            <a:r>
              <a:rPr sz="1100" b="0">
                <a:solidFill>
                  <a:srgbClr val="22262B"/>
                </a:solidFill>
                <a:latin typeface="Calibri"/>
              </a:rPr>
              <a:t>), does foreign demand </a:t>
            </a:r>
            <a:r>
              <a:rPr sz="1100" b="1">
                <a:solidFill>
                  <a:srgbClr val="22262B"/>
                </a:solidFill>
                <a:latin typeface="Calibri"/>
              </a:rPr>
              <a:t>shift to domestic sellers</a:t>
            </a:r>
            <a:r>
              <a:rPr sz="1100" b="0">
                <a:solidFill>
                  <a:srgbClr val="22262B"/>
                </a:solidFill>
                <a:latin typeface="Calibri"/>
              </a:rPr>
              <a:t> (substitution) or simply </a:t>
            </a:r>
            <a:r>
              <a:rPr sz="1100" b="1">
                <a:solidFill>
                  <a:srgbClr val="22262B"/>
                </a:solidFill>
                <a:latin typeface="Calibri"/>
              </a:rPr>
              <a:t>disappear</a:t>
            </a:r>
            <a:r>
              <a:rPr sz="1100" b="0">
                <a:solidFill>
                  <a:srgbClr val="22262B"/>
                </a:solidFill>
                <a:latin typeface="Calibri"/>
              </a:rPr>
              <a:t> (contraction)?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54864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E6DA4"/>
                </a:solidFill>
                <a:latin typeface="Calibri"/>
              </a:rPr>
              <a:t>SETTING &amp;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38728"/>
            <a:ext cx="5486400" cy="1828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E6DA4"/>
                </a:solidFill>
                <a:latin typeface="Calibri"/>
              </a:rPr>
              <a:t>•  </a:t>
            </a:r>
            <a:r>
              <a:rPr sz="1100" b="0">
                <a:solidFill>
                  <a:srgbClr val="22262B"/>
                </a:solidFill>
                <a:latin typeface="Calibri"/>
              </a:rPr>
              <a:t>Weekly </a:t>
            </a:r>
            <a:r>
              <a:rPr sz="1100" b="1">
                <a:solidFill>
                  <a:srgbClr val="22262B"/>
                </a:solidFill>
                <a:latin typeface="Calibri"/>
              </a:rPr>
              <a:t>Etsy jewelry</a:t>
            </a:r>
            <a:r>
              <a:rPr sz="1100" b="0">
                <a:solidFill>
                  <a:srgbClr val="22262B"/>
                </a:solidFill>
                <a:latin typeface="Calibri"/>
              </a:rPr>
              <a:t> shop panel, Oct 2024 – Feb 2026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E6DA4"/>
                </a:solidFill>
                <a:latin typeface="Calibri"/>
              </a:rPr>
              <a:t>•  </a:t>
            </a:r>
            <a:r>
              <a:rPr sz="1100" b="1">
                <a:solidFill>
                  <a:srgbClr val="22262B"/>
                </a:solidFill>
                <a:latin typeface="Calibri"/>
              </a:rPr>
              <a:t>Treated:</a:t>
            </a:r>
            <a:r>
              <a:rPr sz="1100" b="0">
                <a:solidFill>
                  <a:srgbClr val="22262B"/>
                </a:solidFill>
                <a:latin typeface="Calibri"/>
              </a:rPr>
              <a:t> non-U.S. jewelry (8,152) · </a:t>
            </a:r>
            <a:r>
              <a:rPr sz="1100" b="1">
                <a:solidFill>
                  <a:srgbClr val="22262B"/>
                </a:solidFill>
                <a:latin typeface="Calibri"/>
              </a:rPr>
              <a:t>Control A:</a:t>
            </a:r>
            <a:r>
              <a:rPr sz="1100" b="0">
                <a:solidFill>
                  <a:srgbClr val="22262B"/>
                </a:solidFill>
                <a:latin typeface="Calibri"/>
              </a:rPr>
              <a:t> U.S. jewelry (9,849) · </a:t>
            </a:r>
            <a:r>
              <a:rPr sz="1100" b="1">
                <a:solidFill>
                  <a:srgbClr val="22262B"/>
                </a:solidFill>
                <a:latin typeface="Calibri"/>
              </a:rPr>
              <a:t>Control B:</a:t>
            </a:r>
            <a:r>
              <a:rPr sz="1100" b="0">
                <a:solidFill>
                  <a:srgbClr val="22262B"/>
                </a:solidFill>
                <a:latin typeface="Calibri"/>
              </a:rPr>
              <a:t> digital goods (13,114)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E6DA4"/>
                </a:solidFill>
                <a:latin typeface="Calibri"/>
              </a:rPr>
              <a:t>•  </a:t>
            </a:r>
            <a:r>
              <a:rPr sz="1100" b="0">
                <a:solidFill>
                  <a:srgbClr val="22262B"/>
                </a:solidFill>
                <a:latin typeface="Calibri"/>
              </a:rPr>
              <a:t>1-to-1 matched on pre-period units &amp; price; China/HK excluded (</a:t>
            </a:r>
            <a:r>
              <a:rPr sz="1100" b="1">
                <a:solidFill>
                  <a:srgbClr val="22262B"/>
                </a:solidFill>
                <a:latin typeface="Calibri"/>
              </a:rPr>
              <a:t>not</a:t>
            </a:r>
            <a:r>
              <a:rPr sz="1100" b="0">
                <a:solidFill>
                  <a:srgbClr val="22262B"/>
                </a:solidFill>
                <a:latin typeface="Calibri"/>
              </a:rPr>
              <a:t> a Shein/Temu story)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2784" y="1993392"/>
            <a:ext cx="54864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E6DA4"/>
                </a:solidFill>
                <a:latin typeface="Calibri"/>
              </a:rPr>
              <a:t>IDENTIFICATION &amp; 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4" y="2240280"/>
            <a:ext cx="5486400" cy="1828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E6DA4"/>
                </a:solidFill>
                <a:latin typeface="Calibri"/>
              </a:rPr>
              <a:t>•  </a:t>
            </a:r>
            <a:r>
              <a:rPr sz="1100" b="1">
                <a:solidFill>
                  <a:srgbClr val="22262B"/>
                </a:solidFill>
                <a:latin typeface="Calibri"/>
              </a:rPr>
              <a:t>Two controls separate two wedges:</a:t>
            </a:r>
            <a:r>
              <a:rPr sz="1100" b="0">
                <a:solidFill>
                  <a:srgbClr val="22262B"/>
                </a:solidFill>
                <a:latin typeface="Calibri"/>
              </a:rPr>
              <a:t> digital goods ≈ pure no-policy counterfactual; U.S. jewelry absorbs substitution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E6DA4"/>
                </a:solidFill>
                <a:latin typeface="Calibri"/>
              </a:rPr>
              <a:t>•  </a:t>
            </a:r>
            <a:r>
              <a:rPr sz="1100" b="0">
                <a:solidFill>
                  <a:srgbClr val="22262B"/>
                </a:solidFill>
                <a:latin typeface="Calibri"/>
              </a:rPr>
              <a:t>DiD event study; </a:t>
            </a:r>
            <a:r>
              <a:rPr sz="1100" b="1">
                <a:solidFill>
                  <a:srgbClr val="22262B"/>
                </a:solidFill>
                <a:latin typeface="Calibri"/>
              </a:rPr>
              <a:t>OLS</a:t>
            </a:r>
            <a:r>
              <a:rPr sz="1100" b="0">
                <a:solidFill>
                  <a:srgbClr val="22262B"/>
                </a:solidFill>
                <a:latin typeface="Calibri"/>
              </a:rPr>
              <a:t> for the typical seller, </a:t>
            </a:r>
            <a:r>
              <a:rPr sz="1100" b="1">
                <a:solidFill>
                  <a:srgbClr val="22262B"/>
                </a:solidFill>
                <a:latin typeface="Calibri"/>
              </a:rPr>
              <a:t>PPML</a:t>
            </a:r>
            <a:r>
              <a:rPr sz="1100" b="0">
                <a:solidFill>
                  <a:srgbClr val="22262B"/>
                </a:solidFill>
                <a:latin typeface="Calibri"/>
              </a:rPr>
              <a:t> for total volume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3749039"/>
            <a:ext cx="54864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E6DA4"/>
                </a:solidFill>
                <a:latin typeface="Calibri"/>
              </a:rPr>
              <a:t>KEY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3995927"/>
            <a:ext cx="5486400" cy="1828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E6DA4"/>
                </a:solidFill>
                <a:latin typeface="Calibri"/>
              </a:rPr>
              <a:t>•  </a:t>
            </a:r>
            <a:r>
              <a:rPr sz="1100" b="0">
                <a:solidFill>
                  <a:srgbClr val="22262B"/>
                </a:solidFill>
                <a:latin typeface="Calibri"/>
              </a:rPr>
              <a:t>Foreign sellers lose </a:t>
            </a:r>
            <a:r>
              <a:rPr sz="1100" b="1">
                <a:solidFill>
                  <a:srgbClr val="22262B"/>
                </a:solidFill>
                <a:latin typeface="Calibri"/>
              </a:rPr>
              <a:t>13–16% of weekly units</a:t>
            </a:r>
            <a:r>
              <a:rPr sz="1100" b="0">
                <a:solidFill>
                  <a:srgbClr val="22262B"/>
                </a:solidFill>
                <a:latin typeface="Calibri"/>
              </a:rPr>
              <a:t>; persists ≈ 6 months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E6DA4"/>
                </a:solidFill>
                <a:latin typeface="Calibri"/>
              </a:rPr>
              <a:t>•  </a:t>
            </a:r>
            <a:r>
              <a:rPr sz="1100" b="0">
                <a:solidFill>
                  <a:srgbClr val="22262B"/>
                </a:solidFill>
                <a:latin typeface="Calibri"/>
              </a:rPr>
              <a:t>Substitution real for typical seller (</a:t>
            </a:r>
            <a:r>
              <a:rPr sz="1100" b="1">
                <a:solidFill>
                  <a:srgbClr val="22262B"/>
                </a:solidFill>
                <a:latin typeface="Calibri"/>
              </a:rPr>
              <a:t>+8pp</a:t>
            </a:r>
            <a:r>
              <a:rPr sz="1100" b="0">
                <a:solidFill>
                  <a:srgbClr val="22262B"/>
                </a:solidFill>
                <a:latin typeface="Calibri"/>
              </a:rPr>
              <a:t>) but </a:t>
            </a:r>
            <a:r>
              <a:rPr sz="1100" b="1">
                <a:solidFill>
                  <a:srgbClr val="22262B"/>
                </a:solidFill>
                <a:latin typeface="Calibri"/>
              </a:rPr>
              <a:t>≈0 in volume</a:t>
            </a:r>
            <a:r>
              <a:rPr sz="1100" b="0">
                <a:solidFill>
                  <a:srgbClr val="22262B"/>
                </a:solidFill>
                <a:latin typeface="Calibri"/>
              </a:rPr>
              <a:t> — flows to small, hard-to-find U.S. shops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E6DA4"/>
                </a:solidFill>
                <a:latin typeface="Calibri"/>
              </a:rPr>
              <a:t>•  </a:t>
            </a:r>
            <a:r>
              <a:rPr sz="1100" b="0">
                <a:solidFill>
                  <a:srgbClr val="22262B"/>
                </a:solidFill>
                <a:latin typeface="Calibri"/>
              </a:rPr>
              <a:t>Net: total jewelry market </a:t>
            </a:r>
            <a:r>
              <a:rPr sz="1100" b="1">
                <a:solidFill>
                  <a:srgbClr val="22262B"/>
                </a:solidFill>
                <a:latin typeface="Calibri"/>
              </a:rPr>
              <a:t>contracts ≈ 6%</a:t>
            </a:r>
            <a:r>
              <a:rPr sz="1100" b="0">
                <a:solidFill>
                  <a:srgbClr val="22262B"/>
                </a:solidFill>
                <a:latin typeface="Calibri"/>
              </a:rPr>
              <a:t> (contraction, not redistribution); adjusts via shipping/customs, not posted price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449824"/>
            <a:ext cx="11277295" cy="1170432"/>
          </a:xfrm>
          <a:prstGeom prst="rect">
            <a:avLst/>
          </a:prstGeom>
          <a:solidFill>
            <a:srgbClr val="33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5449824"/>
            <a:ext cx="82296" cy="1170432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" y="5541264"/>
            <a:ext cx="11002975" cy="41812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dirty="0">
                <a:solidFill>
                  <a:srgbClr val="BFD2E8"/>
                </a:solidFill>
                <a:latin typeface="Calibri"/>
              </a:rPr>
              <a:t>STAGE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dirty="0">
                <a:solidFill>
                  <a:srgbClr val="FFFFFF"/>
                </a:solidFill>
                <a:latin typeface="Calibri"/>
              </a:rPr>
              <a:t>Stage:</a:t>
            </a:r>
            <a:r>
              <a:rPr sz="1100" b="0" dirty="0">
                <a:solidFill>
                  <a:srgbClr val="FFFFFF"/>
                </a:solidFill>
                <a:latin typeface="Calibri"/>
              </a:rPr>
              <a:t>  </a:t>
            </a:r>
            <a:r>
              <a:rPr sz="1100" b="1" dirty="0">
                <a:solidFill>
                  <a:srgbClr val="FFFFFF"/>
                </a:solidFill>
                <a:latin typeface="Calibri"/>
              </a:rPr>
              <a:t>Under review at Marketing Science</a:t>
            </a:r>
            <a:r>
              <a:rPr sz="1100" b="0" dirty="0">
                <a:solidFill>
                  <a:srgbClr val="FFFFFF"/>
                </a:solidFill>
                <a:latin typeface="Calibri"/>
              </a:rPr>
              <a:t>; working paper on SSRN; presenting at the Marketing Science conference (Lisbon, June 2026).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C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7295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EC6E2"/>
                </a:solidFill>
                <a:latin typeface="Calibri"/>
              </a:rPr>
              <a:t>PROJECT 3   ·   MARKETING  /  USER-GENERATED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The Dupe-licity Effect: Does Viral UGC Help or Hurt Premium Brands?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1945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CFDCEC"/>
                </a:solidFill>
                <a:latin typeface="Calibri"/>
              </a:rPr>
              <a:t>Grzadziel, Acun, Brand, Ruckelshausen, Abou Nabout  —  WU Vienna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277295" cy="566928"/>
          </a:xfrm>
          <a:prstGeom prst="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82296" cy="56692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1021263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1">
                <a:solidFill>
                  <a:srgbClr val="1C355E"/>
                </a:solidFill>
                <a:latin typeface="Calibri"/>
              </a:rPr>
              <a:t>Viral “dupe” videos don’t cannibalize premium revenue — they extend it: ≈ 3 extra weeks of sales per product-country each year.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93392"/>
            <a:ext cx="54864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E6DA4"/>
                </a:solidFill>
                <a:latin typeface="Calibri"/>
              </a:rPr>
              <a:t>RESEARCH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40280"/>
            <a:ext cx="5486400" cy="1828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E6DA4"/>
                </a:solidFill>
                <a:latin typeface="Calibri"/>
              </a:rPr>
              <a:t>•  </a:t>
            </a:r>
            <a:r>
              <a:rPr sz="1100" b="0">
                <a:solidFill>
                  <a:srgbClr val="22262B"/>
                </a:solidFill>
                <a:latin typeface="Calibri"/>
              </a:rPr>
              <a:t>When TikTok creators put a cheap </a:t>
            </a:r>
            <a:r>
              <a:rPr sz="1100" b="1">
                <a:solidFill>
                  <a:srgbClr val="22262B"/>
                </a:solidFill>
                <a:latin typeface="Calibri"/>
              </a:rPr>
              <a:t>“dupe”</a:t>
            </a:r>
            <a:r>
              <a:rPr sz="1100" b="0">
                <a:solidFill>
                  <a:srgbClr val="22262B"/>
                </a:solidFill>
                <a:latin typeface="Calibri"/>
              </a:rPr>
              <a:t> next to a premium product, does shared exposure </a:t>
            </a:r>
            <a:r>
              <a:rPr sz="1100" b="1">
                <a:solidFill>
                  <a:srgbClr val="22262B"/>
                </a:solidFill>
                <a:latin typeface="Calibri"/>
              </a:rPr>
              <a:t>cannibalize</a:t>
            </a:r>
            <a:r>
              <a:rPr sz="1100" b="0">
                <a:solidFill>
                  <a:srgbClr val="22262B"/>
                </a:solidFill>
                <a:latin typeface="Calibri"/>
              </a:rPr>
              <a:t> the premium brand or </a:t>
            </a:r>
            <a:r>
              <a:rPr sz="1100" b="1">
                <a:solidFill>
                  <a:srgbClr val="22262B"/>
                </a:solidFill>
                <a:latin typeface="Calibri"/>
              </a:rPr>
              <a:t>expand</a:t>
            </a:r>
            <a:r>
              <a:rPr sz="1100" b="0">
                <a:solidFill>
                  <a:srgbClr val="22262B"/>
                </a:solidFill>
                <a:latin typeface="Calibri"/>
              </a:rPr>
              <a:t> its demand?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54864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E6DA4"/>
                </a:solidFill>
                <a:latin typeface="Calibri"/>
              </a:rPr>
              <a:t>SETTING &amp;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38728"/>
            <a:ext cx="5486400" cy="1828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dirty="0">
                <a:solidFill>
                  <a:srgbClr val="2E6DA4"/>
                </a:solidFill>
                <a:latin typeface="Calibri"/>
              </a:rPr>
              <a:t>•  </a:t>
            </a:r>
            <a:r>
              <a:rPr sz="1100" b="0" dirty="0">
                <a:solidFill>
                  <a:srgbClr val="22262B"/>
                </a:solidFill>
                <a:latin typeface="Calibri"/>
              </a:rPr>
              <a:t>Weekly sales from a leading </a:t>
            </a:r>
            <a:r>
              <a:rPr sz="1100" b="1" dirty="0">
                <a:solidFill>
                  <a:srgbClr val="22262B"/>
                </a:solidFill>
                <a:latin typeface="Calibri"/>
              </a:rPr>
              <a:t>global beauty retailer</a:t>
            </a:r>
            <a:r>
              <a:rPr sz="1100" b="0" dirty="0">
                <a:solidFill>
                  <a:srgbClr val="22262B"/>
                </a:solidFill>
                <a:latin typeface="Calibri"/>
              </a:rPr>
              <a:t> + DTC sites, 2020–2024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dirty="0">
                <a:solidFill>
                  <a:srgbClr val="2E6DA4"/>
                </a:solidFill>
                <a:latin typeface="Calibri"/>
              </a:rPr>
              <a:t>•  </a:t>
            </a:r>
            <a:r>
              <a:rPr sz="1100" b="1" dirty="0">
                <a:solidFill>
                  <a:srgbClr val="22262B"/>
                </a:solidFill>
                <a:latin typeface="Calibri"/>
              </a:rPr>
              <a:t>15 countries · 608 brands · 19,740 products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dirty="0">
                <a:solidFill>
                  <a:srgbClr val="2E6DA4"/>
                </a:solidFill>
                <a:latin typeface="Calibri"/>
              </a:rPr>
              <a:t>•  </a:t>
            </a:r>
            <a:r>
              <a:rPr sz="1100" b="1" dirty="0">
                <a:solidFill>
                  <a:srgbClr val="22262B"/>
                </a:solidFill>
                <a:latin typeface="Calibri"/>
              </a:rPr>
              <a:t>20,478 TikTok videos</a:t>
            </a:r>
            <a:r>
              <a:rPr sz="1100" b="0" dirty="0">
                <a:solidFill>
                  <a:srgbClr val="22262B"/>
                </a:solidFill>
                <a:latin typeface="Calibri"/>
              </a:rPr>
              <a:t> → NLP pipeline extracts </a:t>
            </a:r>
            <a:r>
              <a:rPr sz="1100" b="0" dirty="0" err="1">
                <a:solidFill>
                  <a:srgbClr val="22262B"/>
                </a:solidFill>
                <a:latin typeface="Calibri"/>
              </a:rPr>
              <a:t>dupe↔original</a:t>
            </a:r>
            <a:r>
              <a:rPr sz="1100" b="0" dirty="0">
                <a:solidFill>
                  <a:srgbClr val="22262B"/>
                </a:solidFill>
                <a:latin typeface="Calibri"/>
              </a:rPr>
              <a:t> co-mentions (F1 = 0.80, human-validated) → </a:t>
            </a:r>
            <a:r>
              <a:rPr sz="1100" b="1" dirty="0">
                <a:solidFill>
                  <a:srgbClr val="22262B"/>
                </a:solidFill>
                <a:latin typeface="Calibri"/>
              </a:rPr>
              <a:t>192 product pairs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2784" y="1993392"/>
            <a:ext cx="54864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E6DA4"/>
                </a:solidFill>
                <a:latin typeface="Calibri"/>
              </a:rPr>
              <a:t>IDENTIFICATION &amp; 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4" y="2240280"/>
            <a:ext cx="5486400" cy="78739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dirty="0">
                <a:solidFill>
                  <a:srgbClr val="2E6DA4"/>
                </a:solidFill>
                <a:latin typeface="Calibri"/>
              </a:rPr>
              <a:t>•  </a:t>
            </a:r>
            <a:r>
              <a:rPr sz="1100" b="1" dirty="0">
                <a:solidFill>
                  <a:srgbClr val="22262B"/>
                </a:solidFill>
                <a:latin typeface="Calibri"/>
              </a:rPr>
              <a:t>Matched-stack </a:t>
            </a:r>
            <a:r>
              <a:rPr sz="1100" b="1" dirty="0" err="1">
                <a:solidFill>
                  <a:srgbClr val="22262B"/>
                </a:solidFill>
                <a:latin typeface="Calibri"/>
              </a:rPr>
              <a:t>DiD</a:t>
            </a:r>
            <a:r>
              <a:rPr sz="1100" b="1" dirty="0">
                <a:solidFill>
                  <a:srgbClr val="22262B"/>
                </a:solidFill>
                <a:latin typeface="Calibri"/>
              </a:rPr>
              <a:t>:</a:t>
            </a:r>
            <a:r>
              <a:rPr sz="1100" b="0" dirty="0">
                <a:solidFill>
                  <a:srgbClr val="22262B"/>
                </a:solidFill>
                <a:latin typeface="Calibri"/>
              </a:rPr>
              <a:t> each treated product matched to 5 controls (category × tier × country) on pre-period sales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dirty="0">
                <a:solidFill>
                  <a:srgbClr val="2E6DA4"/>
                </a:solidFill>
                <a:latin typeface="Calibri"/>
              </a:rPr>
              <a:t>•  </a:t>
            </a:r>
            <a:r>
              <a:rPr sz="1100" b="0" dirty="0">
                <a:solidFill>
                  <a:srgbClr val="22262B"/>
                </a:solidFill>
                <a:latin typeface="Calibri"/>
              </a:rPr>
              <a:t>Treatment = upload week of first co-mention video to </a:t>
            </a:r>
            <a:r>
              <a:rPr sz="1100" b="1" dirty="0">
                <a:solidFill>
                  <a:srgbClr val="22262B"/>
                </a:solidFill>
                <a:latin typeface="Calibri"/>
              </a:rPr>
              <a:t>cross 100k views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dirty="0">
                <a:solidFill>
                  <a:srgbClr val="2E6DA4"/>
                </a:solidFill>
                <a:latin typeface="Calibri"/>
              </a:rPr>
              <a:t>•  </a:t>
            </a:r>
            <a:r>
              <a:rPr sz="1100" b="1" dirty="0">
                <a:solidFill>
                  <a:srgbClr val="22262B"/>
                </a:solidFill>
                <a:latin typeface="Calibri"/>
              </a:rPr>
              <a:t>PPML</a:t>
            </a:r>
            <a:r>
              <a:rPr sz="1100" b="0" dirty="0">
                <a:solidFill>
                  <a:srgbClr val="22262B"/>
                </a:solidFill>
                <a:latin typeface="Calibri"/>
              </a:rPr>
              <a:t> for volume/revenue; SE clustered by pair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3749039"/>
            <a:ext cx="54864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E6DA4"/>
                </a:solidFill>
                <a:latin typeface="Calibri"/>
              </a:rPr>
              <a:t>KEY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3995927"/>
            <a:ext cx="5486400" cy="1828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E6DA4"/>
                </a:solidFill>
                <a:latin typeface="Calibri"/>
              </a:rPr>
              <a:t>•  </a:t>
            </a:r>
            <a:r>
              <a:rPr sz="1100" b="0">
                <a:solidFill>
                  <a:srgbClr val="22262B"/>
                </a:solidFill>
                <a:latin typeface="Calibri"/>
              </a:rPr>
              <a:t>Volume </a:t>
            </a:r>
            <a:r>
              <a:rPr sz="1100" b="1">
                <a:solidFill>
                  <a:srgbClr val="22262B"/>
                </a:solidFill>
                <a:latin typeface="Calibri"/>
              </a:rPr>
              <a:t>−4.6% (p=0.74)</a:t>
            </a:r>
            <a:r>
              <a:rPr sz="1100" b="0">
                <a:solidFill>
                  <a:srgbClr val="22262B"/>
                </a:solidFill>
                <a:latin typeface="Calibri"/>
              </a:rPr>
              <a:t>, revenue </a:t>
            </a:r>
            <a:r>
              <a:rPr sz="1100" b="1">
                <a:solidFill>
                  <a:srgbClr val="22262B"/>
                </a:solidFill>
                <a:latin typeface="Calibri"/>
              </a:rPr>
              <a:t>+0.5% (p=0.95)</a:t>
            </a:r>
            <a:r>
              <a:rPr sz="1100" b="0">
                <a:solidFill>
                  <a:srgbClr val="22262B"/>
                </a:solidFill>
                <a:latin typeface="Calibri"/>
              </a:rPr>
              <a:t> → no cannibalization, no expansion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E6DA4"/>
                </a:solidFill>
                <a:latin typeface="Calibri"/>
              </a:rPr>
              <a:t>•  </a:t>
            </a:r>
            <a:r>
              <a:rPr sz="1100" b="0">
                <a:solidFill>
                  <a:srgbClr val="22262B"/>
                </a:solidFill>
                <a:latin typeface="Calibri"/>
              </a:rPr>
              <a:t>But probability of a sale </a:t>
            </a:r>
            <a:r>
              <a:rPr sz="1100" b="1">
                <a:solidFill>
                  <a:srgbClr val="22262B"/>
                </a:solidFill>
                <a:latin typeface="Calibri"/>
              </a:rPr>
              <a:t>+5.9pp</a:t>
            </a:r>
            <a:r>
              <a:rPr sz="1100" b="0">
                <a:solidFill>
                  <a:srgbClr val="22262B"/>
                </a:solidFill>
                <a:latin typeface="Calibri"/>
              </a:rPr>
              <a:t> → ≈ 3 more weeks of sales/yr (extensive margin)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E6DA4"/>
                </a:solidFill>
                <a:latin typeface="Calibri"/>
              </a:rPr>
              <a:t>•  </a:t>
            </a:r>
            <a:r>
              <a:rPr sz="1100" b="0">
                <a:solidFill>
                  <a:srgbClr val="22262B"/>
                </a:solidFill>
                <a:latin typeface="Calibri"/>
              </a:rPr>
              <a:t>Effect </a:t>
            </a:r>
            <a:r>
              <a:rPr sz="1100" b="1">
                <a:solidFill>
                  <a:srgbClr val="22262B"/>
                </a:solidFill>
                <a:latin typeface="Calibri"/>
              </a:rPr>
              <a:t>grows with salience</a:t>
            </a:r>
            <a:r>
              <a:rPr sz="1100" b="0">
                <a:solidFill>
                  <a:srgbClr val="22262B"/>
                </a:solidFill>
                <a:latin typeface="Calibri"/>
              </a:rPr>
              <a:t>: viral videos + high price gap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449824"/>
            <a:ext cx="11277295" cy="1170432"/>
          </a:xfrm>
          <a:prstGeom prst="rect">
            <a:avLst/>
          </a:prstGeom>
          <a:solidFill>
            <a:srgbClr val="33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5449824"/>
            <a:ext cx="82296" cy="1170432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" y="5541264"/>
            <a:ext cx="11002975" cy="64209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dirty="0">
                <a:solidFill>
                  <a:srgbClr val="BFD2E8"/>
                </a:solidFill>
                <a:latin typeface="Calibri"/>
              </a:rPr>
              <a:t>STAGE  &amp;  NEXT STEPS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dirty="0">
                <a:solidFill>
                  <a:srgbClr val="FFFFFF"/>
                </a:solidFill>
                <a:latin typeface="Calibri"/>
              </a:rPr>
              <a:t>Stage:</a:t>
            </a:r>
            <a:r>
              <a:rPr sz="1100" b="0" dirty="0">
                <a:solidFill>
                  <a:srgbClr val="FFFFFF"/>
                </a:solidFill>
                <a:latin typeface="Calibri"/>
              </a:rPr>
              <a:t>  Results </a:t>
            </a:r>
            <a:r>
              <a:rPr lang="en-US" sz="1100" b="0" dirty="0">
                <a:solidFill>
                  <a:srgbClr val="FFFFFF"/>
                </a:solidFill>
                <a:latin typeface="Calibri"/>
              </a:rPr>
              <a:t>are </a:t>
            </a:r>
            <a:r>
              <a:rPr sz="1100" b="0" dirty="0">
                <a:solidFill>
                  <a:srgbClr val="FFFFFF"/>
                </a:solidFill>
                <a:latin typeface="Calibri"/>
              </a:rPr>
              <a:t>still exploratory</a:t>
            </a:r>
            <a:endParaRPr lang="en-US" sz="1100" b="0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dirty="0">
                <a:solidFill>
                  <a:srgbClr val="FFFFFF"/>
                </a:solidFill>
                <a:latin typeface="Calibri"/>
              </a:rPr>
              <a:t>Next:</a:t>
            </a:r>
            <a:r>
              <a:rPr sz="1100" b="0" dirty="0">
                <a:solidFill>
                  <a:srgbClr val="FFFFFF"/>
                </a:solidFill>
                <a:latin typeface="Calibri"/>
              </a:rPr>
              <a:t>  </a:t>
            </a:r>
            <a:r>
              <a:rPr sz="1100" b="1" dirty="0">
                <a:solidFill>
                  <a:srgbClr val="FFFFFF"/>
                </a:solidFill>
                <a:latin typeface="Calibri"/>
              </a:rPr>
              <a:t>Targeting submission to JM / JMR in the coming months.</a:t>
            </a:r>
            <a:r>
              <a:rPr sz="1100" b="0" dirty="0">
                <a:solidFill>
                  <a:srgbClr val="FFFFFF"/>
                </a:solidFill>
                <a:latin typeface="Calibri"/>
              </a:rPr>
              <a:t>  Pin down the mechanism; expand heterogeneity samples.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690</TotalTime>
  <Words>886</Words>
  <Application>Microsoft Macintosh PowerPoint</Application>
  <PresentationFormat>Widescreen</PresentationFormat>
  <Paragraphs>60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Acun, Fatma Isin</cp:lastModifiedBy>
  <cp:revision>2</cp:revision>
  <dcterms:created xsi:type="dcterms:W3CDTF">2013-01-27T09:14:16Z</dcterms:created>
  <dcterms:modified xsi:type="dcterms:W3CDTF">2026-06-18T22:07:49Z</dcterms:modified>
  <cp:category/>
</cp:coreProperties>
</file>